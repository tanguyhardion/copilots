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53EF-BE61-B3D9-482C-D0494B5BF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959DB-F78F-8D14-F185-B225C9B62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3D305-682F-DE0C-8D19-64EEA3964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1BAB-D7A3-41AF-8A91-94D28F6F59B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EB696-E395-04AC-BAD1-218C78B60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C8114-69CA-702D-2DCE-9C3CF68B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DD0EA-99BF-4632-99C5-477FE19FB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421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8EA35-E224-8F07-D417-84F45C74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E3938-69C0-C90D-F6CD-11C6B5FEC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BC171-0098-98E6-AD54-86973120E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1BAB-D7A3-41AF-8A91-94D28F6F59B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FEA40-A246-6678-49E1-AC3B2C118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6EEC8-8082-D9C8-2283-69574E03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DD0EA-99BF-4632-99C5-477FE19FB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2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3AB9F-BF7E-0EC9-0689-B7717E433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6B5D3-4872-A06F-5699-11EACF067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620B2-6AFF-E79B-08EB-5E99F8160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1BAB-D7A3-41AF-8A91-94D28F6F59B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1E5B8-9A6C-F758-AF0B-395B7D2ED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D47F4-208C-F6AB-8DC7-547592B26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DD0EA-99BF-4632-99C5-477FE19FB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0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45D5F-3EF1-8DE0-0CEB-E6054D43B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37E6D-11CE-572F-5B4A-89E1A69EFB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BA03F-DC75-DFDD-8205-A2C6EF1E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1D725-542D-744F-C871-1D73C745F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1BAB-D7A3-41AF-8A91-94D28F6F59B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A67C41-09DE-5EF2-C6BF-626ACD9B7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C73B3-707D-0243-9251-8726548DE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DD0EA-99BF-4632-99C5-477FE19FB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30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DA3D-084D-52AA-7B8C-3FC96A79C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25EA5-C3A0-8FC8-CE81-F49DC35E8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E38BF-8AAE-52AB-DB25-823118BC9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EDC19-310A-916E-E466-F9BC7763F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C1E2B4-D329-2D19-2DEA-37B8EA8E9B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3980DF-7F1F-2DCD-B68D-AC2636047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1BAB-D7A3-41AF-8A91-94D28F6F59B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21D60-7ED9-1776-9503-4B6EE427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ABB361-8C60-6FB3-34A1-C03364725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DD0EA-99BF-4632-99C5-477FE19FB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38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FB6CF-C9F0-C1B9-A702-B2CEE3D72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5749B-C868-1A51-453D-95B168C9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1BAB-D7A3-41AF-8A91-94D28F6F59B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AE792F-E7A8-04D1-AACB-58A992812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7D9A03-D8CC-0C70-A140-9EF94BEBC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DD0EA-99BF-4632-99C5-477FE19FB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1B8BD8-1D5E-8753-6A72-F3644EAC1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1BAB-D7A3-41AF-8A91-94D28F6F59B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896669-E600-D145-2D5D-64E1F2B72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DF72B-B40E-0008-9C89-30FE70AC3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DD0EA-99BF-4632-99C5-477FE19FB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09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A00E1-D96B-3E91-92B9-48897A4B2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0803D-3889-385D-698E-A416D31DA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2AFA6-49A7-16A8-0A0A-AEB839192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4CB68-DF17-1E21-4B1F-F016E7B41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1BAB-D7A3-41AF-8A91-94D28F6F59B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6F7EE-984D-0848-6A3F-D95F26BFA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755B6-82F8-3BAC-6D26-54A0A2F5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DD0EA-99BF-4632-99C5-477FE19FB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87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4D8E8-F876-4F33-0F57-8B5F82177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C183B-D223-F28E-0338-54EE926800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C9148-4898-EA77-F520-9BAC97F74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FBACB-8ECA-CABC-12EE-E5A729FD3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1BAB-D7A3-41AF-8A91-94D28F6F59B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34476-80CF-91F6-9F8F-0806FCE0A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8161C-02E1-8282-4DBA-84EE3E31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DD0EA-99BF-4632-99C5-477FE19FB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188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56944-CDE8-DEA5-AFE8-92458F542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3818A-2263-3D08-64AB-6826214BF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8AC91-D584-BA84-45AF-0AAFA7A4E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1BAB-D7A3-41AF-8A91-94D28F6F59B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EA6ED-A377-EBEA-6599-CF13D0FC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6CFAE-512C-4AAB-909C-E4C6BD20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DD0EA-99BF-4632-99C5-477FE19FB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2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C4EF41-5C0D-F681-3D9C-C2D704D781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E4250-6896-98A4-7180-AAA8A6DE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B987E-97C7-E48C-02BB-516E11ABA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B1BAB-D7A3-41AF-8A91-94D28F6F59B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D4B69-3FE1-8DAF-DCDC-5C9FBD23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9BFDC-0D81-0373-1006-5B33DB1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DD0EA-99BF-4632-99C5-477FE19FB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85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23E69E-7304-D112-031E-5CDACCFB5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112C6-4D5E-283D-8113-C6C066B86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10652-1346-BF4A-9540-0ACDAB73C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B1BAB-D7A3-41AF-8A91-94D28F6F59BB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B99CC-767A-5A2B-A949-C895C2C58C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C43C1-5B72-D549-F2D2-40A930C76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DD0EA-99BF-4632-99C5-477FE19FB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798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4">
            <a:extLst>
              <a:ext uri="{FF2B5EF4-FFF2-40B4-BE49-F238E27FC236}">
                <a16:creationId xmlns:a16="http://schemas.microsoft.com/office/drawing/2014/main" id="{703FB378-4B8F-1F55-2F9D-904A928EE0AC}"/>
              </a:ext>
            </a:extLst>
          </p:cNvPr>
          <p:cNvSpPr/>
          <p:nvPr/>
        </p:nvSpPr>
        <p:spPr>
          <a:xfrm>
            <a:off x="540045" y="1060247"/>
            <a:ext cx="1706087" cy="1739829"/>
          </a:xfrm>
          <a:prstGeom prst="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48">
            <a:extLst>
              <a:ext uri="{FF2B5EF4-FFF2-40B4-BE49-F238E27FC236}">
                <a16:creationId xmlns:a16="http://schemas.microsoft.com/office/drawing/2014/main" id="{FA111E1C-C534-9AA3-61D9-35DF939F196A}"/>
              </a:ext>
            </a:extLst>
          </p:cNvPr>
          <p:cNvCxnSpPr/>
          <p:nvPr/>
        </p:nvCxnSpPr>
        <p:spPr>
          <a:xfrm>
            <a:off x="540045" y="5229911"/>
            <a:ext cx="0" cy="1069939"/>
          </a:xfrm>
          <a:prstGeom prst="straightConnector1">
            <a:avLst/>
          </a:prstGeom>
          <a:ln w="19050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5" name="Rectangle 49">
            <a:extLst>
              <a:ext uri="{FF2B5EF4-FFF2-40B4-BE49-F238E27FC236}">
                <a16:creationId xmlns:a16="http://schemas.microsoft.com/office/drawing/2014/main" id="{8F0AAEAD-89EA-425B-A594-D05B383A9238}"/>
              </a:ext>
            </a:extLst>
          </p:cNvPr>
          <p:cNvSpPr/>
          <p:nvPr/>
        </p:nvSpPr>
        <p:spPr>
          <a:xfrm>
            <a:off x="646664" y="5229911"/>
            <a:ext cx="2485796" cy="184666"/>
          </a:xfrm>
          <a:prstGeom prst="rect">
            <a:avLst/>
          </a:prstGeom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Calibri" panose="020F0502020204030204" pitchFamily="34" charset="0"/>
              </a:rPr>
              <a:t>Subject Matter Expertise </a:t>
            </a:r>
          </a:p>
        </p:txBody>
      </p:sp>
      <p:cxnSp>
        <p:nvCxnSpPr>
          <p:cNvPr id="6" name="Straight Connector 56">
            <a:extLst>
              <a:ext uri="{FF2B5EF4-FFF2-40B4-BE49-F238E27FC236}">
                <a16:creationId xmlns:a16="http://schemas.microsoft.com/office/drawing/2014/main" id="{1B8181F2-F906-A33E-52B3-FC39225B1A9C}"/>
              </a:ext>
            </a:extLst>
          </p:cNvPr>
          <p:cNvCxnSpPr/>
          <p:nvPr/>
        </p:nvCxnSpPr>
        <p:spPr>
          <a:xfrm>
            <a:off x="6479987" y="952165"/>
            <a:ext cx="0" cy="5399806"/>
          </a:xfrm>
          <a:prstGeom prst="straightConnector1">
            <a:avLst/>
          </a:prstGeom>
          <a:ln w="19050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7" name="Rectangle 57">
            <a:extLst>
              <a:ext uri="{FF2B5EF4-FFF2-40B4-BE49-F238E27FC236}">
                <a16:creationId xmlns:a16="http://schemas.microsoft.com/office/drawing/2014/main" id="{F670B280-4979-0930-5CF8-5BE16E656374}"/>
              </a:ext>
            </a:extLst>
          </p:cNvPr>
          <p:cNvSpPr/>
          <p:nvPr/>
        </p:nvSpPr>
        <p:spPr>
          <a:xfrm>
            <a:off x="6642019" y="952165"/>
            <a:ext cx="2724637" cy="184666"/>
          </a:xfrm>
          <a:prstGeom prst="rect">
            <a:avLst/>
          </a:prstGeom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r>
              <a:rPr lang="en-US" sz="1200" b="1">
                <a:latin typeface="Calibri" panose="020F0502020204030204" pitchFamily="34" charset="0"/>
              </a:rPr>
              <a:t>Relevant Experience</a:t>
            </a:r>
          </a:p>
        </p:txBody>
      </p:sp>
      <p:graphicFrame>
        <p:nvGraphicFramePr>
          <p:cNvPr id="8" name="Table 71">
            <a:extLst>
              <a:ext uri="{FF2B5EF4-FFF2-40B4-BE49-F238E27FC236}">
                <a16:creationId xmlns:a16="http://schemas.microsoft.com/office/drawing/2014/main" id="{35A0B7D6-085F-AD6C-552D-70ED0181D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742127"/>
              </p:ext>
            </p:extLst>
          </p:nvPr>
        </p:nvGraphicFramePr>
        <p:xfrm>
          <a:off x="6642020" y="1152876"/>
          <a:ext cx="5202428" cy="30346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>
                  <a:extLst>
                    <a:ext uri="{9D8B030D-6E8A-4147-A177-3AD203B41FA5}">
                      <a16:colId xmlns:a16="http://schemas.microsoft.com/office/drawing/2014/main" val="2278502236"/>
                    </a:ext>
                  </a:extLst>
                </a:gridCol>
                <a:gridCol w="4218178">
                  <a:extLst>
                    <a:ext uri="{9D8B030D-6E8A-4147-A177-3AD203B41FA5}">
                      <a16:colId xmlns:a16="http://schemas.microsoft.com/office/drawing/2014/main" val="373176717"/>
                    </a:ext>
                  </a:extLst>
                </a:gridCol>
              </a:tblGrid>
              <a:tr h="1039876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latin typeface="Calibri" panose="020F0502020204030204" pitchFamily="34" charset="0"/>
                        </a:rPr>
                        <a:t>MMM. YYY – MMM. YYY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&lt;anonymized client name, e.g. “European Financial Institution”&gt; – &lt;project name, e.g. “Digital Transformation”&gt;</a:t>
                      </a:r>
                    </a:p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&lt;key activity 1&gt;</a:t>
                      </a:r>
                    </a:p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&lt;key activity 2&gt;</a:t>
                      </a:r>
                    </a:p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92541216"/>
                  </a:ext>
                </a:extLst>
              </a:tr>
              <a:tr h="1039876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latin typeface="Calibri" panose="020F0502020204030204" pitchFamily="34" charset="0"/>
                        </a:rPr>
                        <a:t>MMM. YYY – MMM. YYY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&lt;anonymized client name, e.g. “European Financial Institution”&gt; – &lt;project name, e.g. “Digital Transformation”&gt;</a:t>
                      </a:r>
                    </a:p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&lt;key activity 1&gt;</a:t>
                      </a:r>
                    </a:p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&lt;key activity 2&gt;</a:t>
                      </a:r>
                    </a:p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41281618"/>
                  </a:ext>
                </a:extLst>
              </a:tr>
              <a:tr h="1039876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latin typeface="Calibri" panose="020F0502020204030204" pitchFamily="34" charset="0"/>
                        </a:rPr>
                        <a:t>MMM. YYY – MMM. YYY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&lt;anonymized client name, e.g. “European Financial Institution”&gt; – &lt;project name, e.g. “Digital Transformation”&gt;</a:t>
                      </a:r>
                    </a:p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&lt;key activity 1&gt;</a:t>
                      </a:r>
                    </a:p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&lt;key activity 2&gt;</a:t>
                      </a:r>
                    </a:p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12031523"/>
                  </a:ext>
                </a:extLst>
              </a:tr>
              <a:tr h="1039876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latin typeface="Calibri" panose="020F0502020204030204" pitchFamily="34" charset="0"/>
                        </a:rPr>
                        <a:t>MMM. YYY – MMM. YYY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&lt;anonymized client name, e.g. “European Financial Institution”&gt; – &lt;project name, e.g. “Digital Transformation”&gt;</a:t>
                      </a:r>
                    </a:p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&lt;key activity 1&gt;</a:t>
                      </a:r>
                    </a:p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&lt;key activity 2&gt;</a:t>
                      </a:r>
                    </a:p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01875090"/>
                  </a:ext>
                </a:extLst>
              </a:tr>
              <a:tr h="1039876">
                <a:tc>
                  <a:txBody>
                    <a:bodyPr/>
                    <a:lstStyle/>
                    <a:p>
                      <a:pPr algn="l"/>
                      <a:r>
                        <a:rPr lang="en-US" sz="1100" b="0">
                          <a:latin typeface="Calibri" panose="020F0502020204030204" pitchFamily="34" charset="0"/>
                        </a:rPr>
                        <a:t>MMM. YYY – MMM. YYY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&lt;anonymized client name, e.g. “European Financial Institution”&gt; – &lt;project name, e.g. “Digital Transformation”&gt;</a:t>
                      </a:r>
                    </a:p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&lt;key activity 1&gt;</a:t>
                      </a:r>
                    </a:p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&lt;key activity 2&gt;</a:t>
                      </a:r>
                    </a:p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rgbClr val="242424"/>
                          </a:solidFill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12963552"/>
                  </a:ext>
                </a:extLst>
              </a:tr>
            </a:tbl>
          </a:graphicData>
        </a:graphic>
      </p:graphicFrame>
      <p:graphicFrame>
        <p:nvGraphicFramePr>
          <p:cNvPr id="9" name="Table 72">
            <a:extLst>
              <a:ext uri="{FF2B5EF4-FFF2-40B4-BE49-F238E27FC236}">
                <a16:creationId xmlns:a16="http://schemas.microsoft.com/office/drawing/2014/main" id="{12D3AF89-7AE2-3C23-22A3-4B208AAD0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193892"/>
              </p:ext>
            </p:extLst>
          </p:nvPr>
        </p:nvGraphicFramePr>
        <p:xfrm>
          <a:off x="646664" y="5438760"/>
          <a:ext cx="4904613" cy="1419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871">
                  <a:extLst>
                    <a:ext uri="{9D8B030D-6E8A-4147-A177-3AD203B41FA5}">
                      <a16:colId xmlns:a16="http://schemas.microsoft.com/office/drawing/2014/main" val="1231101340"/>
                    </a:ext>
                  </a:extLst>
                </a:gridCol>
                <a:gridCol w="1634871">
                  <a:extLst>
                    <a:ext uri="{9D8B030D-6E8A-4147-A177-3AD203B41FA5}">
                      <a16:colId xmlns:a16="http://schemas.microsoft.com/office/drawing/2014/main" val="3028116768"/>
                    </a:ext>
                  </a:extLst>
                </a:gridCol>
                <a:gridCol w="1634871">
                  <a:extLst>
                    <a:ext uri="{9D8B030D-6E8A-4147-A177-3AD203B41FA5}">
                      <a16:colId xmlns:a16="http://schemas.microsoft.com/office/drawing/2014/main" val="2896304839"/>
                    </a:ext>
                  </a:extLst>
                </a:gridCol>
              </a:tblGrid>
              <a:tr h="426466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latin typeface="Calibri" panose="020F0502020204030204" pitchFamily="34" charset="0"/>
                        </a:rPr>
                        <a:t>skill1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latin typeface="Calibri" panose="020F0502020204030204" pitchFamily="34" charset="0"/>
                        </a:rPr>
                        <a:t>skill2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latin typeface="Calibri" panose="020F0502020204030204" pitchFamily="34" charset="0"/>
                        </a:rPr>
                        <a:t>skill3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13872919"/>
                  </a:ext>
                </a:extLst>
              </a:tr>
              <a:tr h="404241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latin typeface="Calibri" panose="020F0502020204030204" pitchFamily="34" charset="0"/>
                        </a:rPr>
                        <a:t>skill4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latin typeface="Calibri" panose="020F0502020204030204" pitchFamily="34" charset="0"/>
                        </a:rPr>
                        <a:t>skill5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Calibri" panose="020F0502020204030204" pitchFamily="34" charset="0"/>
                        </a:rPr>
                        <a:t>skill6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67505921"/>
                  </a:ext>
                </a:extLst>
              </a:tr>
            </a:tbl>
          </a:graphicData>
        </a:graphic>
      </p:graphicFrame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43E0782-2D1F-5BA5-F294-B0B1EDA3125A}"/>
              </a:ext>
            </a:extLst>
          </p:cNvPr>
          <p:cNvSpPr txBox="1"/>
          <p:nvPr/>
        </p:nvSpPr>
        <p:spPr>
          <a:xfrm>
            <a:off x="2406427" y="1060247"/>
            <a:ext cx="2883377" cy="36933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latin typeface="Calibri" panose="020F0502020204030204" pitchFamily="34" charset="0"/>
              </a:rPr>
              <a:t>&lt;firstname lastname&gt;</a:t>
            </a:r>
          </a:p>
          <a:p>
            <a:r>
              <a:rPr lang="en-US" sz="1100">
                <a:latin typeface="Calibri" panose="020F0502020204030204" pitchFamily="34" charset="0"/>
              </a:rPr>
              <a:t>&lt;grade/rank/role, e.g. “Senior Consultant”&gt;</a:t>
            </a:r>
          </a:p>
          <a:p>
            <a:pPr>
              <a:spcAft>
                <a:spcPts val="600"/>
              </a:spcAft>
            </a:pPr>
            <a:r>
              <a:rPr lang="en-US" sz="1100">
                <a:latin typeface="Calibri" panose="020F0502020204030204" pitchFamily="34" charset="0"/>
              </a:rPr>
              <a:t>&lt;team/industry, e.g. “AI &amp; Data”&gt;</a:t>
            </a:r>
          </a:p>
          <a:p>
            <a:r>
              <a:rPr lang="en-US" sz="1100">
                <a:latin typeface="Calibri" panose="020F0502020204030204" pitchFamily="34" charset="0"/>
              </a:rPr>
              <a:t>Mobile: +352 6XX XXX XXX</a:t>
            </a:r>
          </a:p>
          <a:p>
            <a:r>
              <a:rPr lang="en-US" sz="1100">
                <a:latin typeface="Calibri" panose="020F0502020204030204" pitchFamily="34" charset="0"/>
              </a:rPr>
              <a:t>Email: example@email.com</a:t>
            </a:r>
          </a:p>
          <a:p>
            <a:endParaRPr lang="en-US" sz="1100">
              <a:latin typeface="Calibri" panose="020F0502020204030204" pitchFamily="34" charset="0"/>
            </a:endParaRPr>
          </a:p>
        </p:txBody>
      </p:sp>
      <p:cxnSp>
        <p:nvCxnSpPr>
          <p:cNvPr id="11" name="Straight Connector 2">
            <a:extLst>
              <a:ext uri="{FF2B5EF4-FFF2-40B4-BE49-F238E27FC236}">
                <a16:creationId xmlns:a16="http://schemas.microsoft.com/office/drawing/2014/main" id="{ABEF46EF-0420-4BFD-E253-FF0E7B35216F}"/>
              </a:ext>
            </a:extLst>
          </p:cNvPr>
          <p:cNvCxnSpPr/>
          <p:nvPr/>
        </p:nvCxnSpPr>
        <p:spPr>
          <a:xfrm>
            <a:off x="540045" y="2902214"/>
            <a:ext cx="0" cy="2050817"/>
          </a:xfrm>
          <a:prstGeom prst="straightConnector1">
            <a:avLst/>
          </a:prstGeom>
          <a:ln w="19050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3">
            <a:extLst>
              <a:ext uri="{FF2B5EF4-FFF2-40B4-BE49-F238E27FC236}">
                <a16:creationId xmlns:a16="http://schemas.microsoft.com/office/drawing/2014/main" id="{6E1C2B33-917C-E909-49F9-0ABF2151CCF5}"/>
              </a:ext>
            </a:extLst>
          </p:cNvPr>
          <p:cNvSpPr/>
          <p:nvPr/>
        </p:nvSpPr>
        <p:spPr>
          <a:xfrm>
            <a:off x="646664" y="2902214"/>
            <a:ext cx="1156350" cy="184666"/>
          </a:xfrm>
          <a:prstGeom prst="rect">
            <a:avLst/>
          </a:prstGeom>
          <a:ln w="127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r>
              <a:rPr lang="en-US" sz="1200" b="1">
                <a:latin typeface="Calibri" panose="020F0502020204030204" pitchFamily="34" charset="0"/>
              </a:rPr>
              <a:t>Profile Summary</a:t>
            </a:r>
          </a:p>
        </p:txBody>
      </p:sp>
      <p:sp useBgFill="1">
        <p:nvSpPr>
          <p:cNvPr id="13" name="TextBox 7">
            <a:extLst>
              <a:ext uri="{FF2B5EF4-FFF2-40B4-BE49-F238E27FC236}">
                <a16:creationId xmlns:a16="http://schemas.microsoft.com/office/drawing/2014/main" id="{D5F3E81F-3B0D-A824-33AE-5994214263D9}"/>
              </a:ext>
            </a:extLst>
          </p:cNvPr>
          <p:cNvSpPr txBox="1"/>
          <p:nvPr/>
        </p:nvSpPr>
        <p:spPr>
          <a:xfrm>
            <a:off x="646664" y="3106491"/>
            <a:ext cx="5615970" cy="169277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1100">
                <a:latin typeface="Calibri" panose="020F0502020204030204" pitchFamily="34" charset="0"/>
              </a:rPr>
              <a:t>&lt;profile summary tailored to the proposed role and RFP, max 120 words, 2-4 paragraphs&gt;</a:t>
            </a:r>
          </a:p>
        </p:txBody>
      </p:sp>
    </p:spTree>
    <p:extLst>
      <p:ext uri="{BB962C8B-B14F-4D97-AF65-F5344CB8AC3E}">
        <p14:creationId xmlns:p14="http://schemas.microsoft.com/office/powerpoint/2010/main" val="72999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Office PowerPoint</Application>
  <PresentationFormat>Custom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Tanguy Hardion</dc:creator>
  <cp:lastModifiedBy>Tanguy Hardion</cp:lastModifiedBy>
  <cp:revision>1</cp:revision>
  <dcterms:created xsi:type="dcterms:W3CDTF">2026-08-25T08:47:23Z</dcterms:created>
  <dcterms:modified xsi:type="dcterms:W3CDTF">2026-08-25T08:47:34Z</dcterms:modified>
</cp:coreProperties>
</file>